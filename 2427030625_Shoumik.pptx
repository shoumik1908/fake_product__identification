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6" r:id="rId13"/>
    <p:sldId id="278" r:id="rId14"/>
    <p:sldId id="279" r:id="rId15"/>
    <p:sldId id="282" r:id="rId16"/>
    <p:sldId id="280" r:id="rId17"/>
    <p:sldId id="281" r:id="rId18"/>
    <p:sldId id="272" r:id="rId19"/>
    <p:sldId id="274" r:id="rId20"/>
  </p:sldIdLst>
  <p:sldSz cx="12192000" cy="6858000"/>
  <p:notesSz cx="6858000" cy="9144000"/>
  <p:embeddedFontLst>
    <p:embeddedFont>
      <p:font typeface="poppins-bold" panose="020B0604020202020204" charset="0"/>
      <p:regular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A6625AC-DA8B-4144-90DF-F0A316E02637}">
          <p14:sldIdLst>
            <p14:sldId id="256"/>
            <p14:sldId id="257"/>
            <p14:sldId id="260"/>
            <p14:sldId id="261"/>
            <p14:sldId id="263"/>
            <p14:sldId id="264"/>
            <p14:sldId id="265"/>
            <p14:sldId id="266"/>
            <p14:sldId id="267"/>
            <p14:sldId id="269"/>
            <p14:sldId id="270"/>
            <p14:sldId id="276"/>
            <p14:sldId id="278"/>
            <p14:sldId id="279"/>
            <p14:sldId id="282"/>
            <p14:sldId id="280"/>
            <p14:sldId id="281"/>
            <p14:sldId id="27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9900"/>
    <a:srgbClr val="D2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8" autoAdjust="0"/>
    <p:restoredTop sz="94660"/>
  </p:normalViewPr>
  <p:slideViewPr>
    <p:cSldViewPr snapToGrid="0">
      <p:cViewPr varScale="1">
        <p:scale>
          <a:sx n="74" d="100"/>
          <a:sy n="74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74320-95C8-42CB-8FCA-D8A3E7891AA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B283B-B67A-41CF-B718-1032B42D27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14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0B283B-B67A-41CF-B718-1032B42D27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442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B283B-B67A-41CF-B718-1032B42D27B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041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Screen shots add</a:t>
            </a:r>
          </a:p>
          <a:p>
            <a:r>
              <a:rPr lang="en-IN" dirty="0"/>
              <a:t>What achieved</a:t>
            </a:r>
          </a:p>
          <a:p>
            <a:r>
              <a:rPr lang="en-IN" dirty="0"/>
              <a:t>Model accuracy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B283B-B67A-41CF-B718-1032B42D27B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9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hyperlink" Target="Google%20Chrome.lnk" TargetMode="External"/><Relationship Id="rId4" Type="http://schemas.openxmlformats.org/officeDocument/2006/relationships/hyperlink" Target="https://shoumik1908.github.io/Fake_Product__Identification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flipH="1">
            <a:off x="9064960" y="2617167"/>
            <a:ext cx="3127040" cy="35368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754744" y="2635524"/>
            <a:ext cx="6311900" cy="210519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5000" b="1" dirty="0">
                <a:ln w="12700">
                  <a:noFill/>
                </a:ln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 Product Identification</a:t>
            </a:r>
            <a:endParaRPr kumimoji="1" lang="zh-CN" altLang="en-US" b="1" dirty="0">
              <a:solidFill>
                <a:srgbClr val="0000C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92100" y="5026305"/>
            <a:ext cx="5803900" cy="894772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6" name="标题 1"/>
          <p:cNvSpPr txBox="1"/>
          <p:nvPr/>
        </p:nvSpPr>
        <p:spPr>
          <a:xfrm>
            <a:off x="388261" y="5118190"/>
            <a:ext cx="5707739" cy="7098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r>
              <a:rPr lang="en-IN" sz="2000" b="1" dirty="0"/>
              <a:t>Submitted by</a:t>
            </a:r>
            <a:r>
              <a:rPr lang="en-IN" sz="2400" dirty="0"/>
              <a:t>: </a:t>
            </a:r>
            <a:r>
              <a:rPr lang="en-IN" sz="2800" b="1" dirty="0" err="1">
                <a:solidFill>
                  <a:srgbClr val="C00000"/>
                </a:solidFill>
              </a:rPr>
              <a:t>Shoumik</a:t>
            </a:r>
            <a:r>
              <a:rPr lang="en-IN" sz="2800" b="1" dirty="0">
                <a:solidFill>
                  <a:srgbClr val="C00000"/>
                </a:solidFill>
              </a:rPr>
              <a:t> Kumar </a:t>
            </a:r>
            <a:endParaRPr lang="en-IN" sz="2400" b="1" dirty="0">
              <a:solidFill>
                <a:srgbClr val="C00000"/>
              </a:solidFill>
            </a:endParaRPr>
          </a:p>
          <a:p>
            <a:r>
              <a:rPr lang="en-IN" sz="2400" dirty="0"/>
              <a:t>                 </a:t>
            </a:r>
            <a:r>
              <a:rPr lang="en-IN" sz="2400" b="1" dirty="0"/>
              <a:t>(Reg no.-2427030625)</a:t>
            </a:r>
          </a:p>
        </p:txBody>
      </p:sp>
      <p:cxnSp>
        <p:nvCxnSpPr>
          <p:cNvPr id="10" name="标题 1"/>
          <p:cNvCxnSpPr/>
          <p:nvPr/>
        </p:nvCxnSpPr>
        <p:spPr>
          <a:xfrm flipV="1">
            <a:off x="2834097" y="1950981"/>
            <a:ext cx="6767103" cy="11169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close up of a sign  AI-generated content may be incorrect.">
            <a:extLst>
              <a:ext uri="{FF2B5EF4-FFF2-40B4-BE49-F238E27FC236}">
                <a16:creationId xmlns:a16="http://schemas.microsoft.com/office/drawing/2014/main" id="{482619DE-D2CA-F696-A1CD-FDA191740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3" y="117968"/>
            <a:ext cx="5533208" cy="110421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4000" y="1014783"/>
            <a:ext cx="9144000" cy="8585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School of Computer Science and Engineering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Department of Computer Science and Engineering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6651397" y="5088461"/>
            <a:ext cx="3298848" cy="97679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500" b="1" dirty="0"/>
              <a:t>Supervised by:</a:t>
            </a:r>
          </a:p>
          <a:p>
            <a:r>
              <a:rPr lang="en-IN" sz="8600" dirty="0">
                <a:solidFill>
                  <a:srgbClr val="7030A0"/>
                </a:solidFill>
              </a:rPr>
              <a:t>Dr. Vaishali Chauhan</a:t>
            </a:r>
          </a:p>
          <a:p>
            <a:endParaRPr lang="en-IN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 flipH="1">
            <a:off x="1992843" y="1667656"/>
            <a:ext cx="455865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0" y="899078"/>
            <a:ext cx="1656000" cy="792000"/>
          </a:xfrm>
          <a:prstGeom prst="rect">
            <a:avLst/>
          </a:pr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116408" y="848891"/>
            <a:ext cx="4311523" cy="70018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  <a:endParaRPr kumimoji="1" lang="zh-CN" altLang="en-US" sz="16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528127" y="2554599"/>
            <a:ext cx="4102275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961918" y="2630198"/>
            <a:ext cx="360000" cy="30777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</a:t>
            </a:r>
            <a:endParaRPr kumimoji="1" lang="zh-CN" altLang="en-US" sz="3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011633" y="2630198"/>
            <a:ext cx="360000" cy="30777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7643591" y="3333808"/>
            <a:ext cx="4102275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Statement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537970" y="3346250"/>
            <a:ext cx="4102275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Literature Review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2011633" y="3428604"/>
            <a:ext cx="360000" cy="30777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</a:t>
            </a:r>
            <a:endParaRPr kumimoji="1" lang="zh-CN" altLang="en-US" sz="3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6961918" y="3428604"/>
            <a:ext cx="360000" cy="30777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</a:t>
            </a:r>
            <a:endParaRPr kumimoji="1" lang="zh-CN" altLang="en-US" sz="3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2523841" y="4188136"/>
            <a:ext cx="4102275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 Solution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2011633" y="4240359"/>
            <a:ext cx="360000" cy="30777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</a:t>
            </a:r>
            <a:endParaRPr kumimoji="1" lang="zh-CN" altLang="en-US" sz="3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6961918" y="4240359"/>
            <a:ext cx="360000" cy="30777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7652685" y="4193861"/>
            <a:ext cx="4102275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7652685" y="2554599"/>
            <a:ext cx="4102275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76200" y="30715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056640"/>
            <a:ext cx="12192000" cy="2773680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1041225" y="3517018"/>
            <a:ext cx="2451633" cy="648867"/>
          </a:xfrm>
          <a:prstGeom prst="parallelogram">
            <a:avLst>
              <a:gd name="adj" fmla="val 4435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698778" y="3595230"/>
            <a:ext cx="11303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82702" y="4597225"/>
            <a:ext cx="3225982" cy="13759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Counterfeiting is a global problem, costing the global economy billions of dollars annually and posing significant risks to consumer safety and brand reputation.</a:t>
            </a:r>
            <a:endParaRPr kumimoji="1" lang="zh-CN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870184" y="3517018"/>
            <a:ext cx="2451633" cy="648867"/>
          </a:xfrm>
          <a:prstGeom prst="parallelogram">
            <a:avLst>
              <a:gd name="adj" fmla="val 44352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527737" y="3595230"/>
            <a:ext cx="11303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489359" y="4597225"/>
            <a:ext cx="3213282" cy="13759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luxury goods and pharmaceuticals to everyday consumer products, no industry is immune.</a:t>
            </a:r>
            <a:endParaRPr kumimoji="1" lang="zh-CN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8686443" y="3517018"/>
            <a:ext cx="2451633" cy="648867"/>
          </a:xfrm>
          <a:prstGeom prst="parallelogram">
            <a:avLst>
              <a:gd name="adj" fmla="val 4435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343996" y="3595230"/>
            <a:ext cx="11303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305618" y="4597225"/>
            <a:ext cx="3213282" cy="13759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Existing solutions like simple holograms or QR codes are often insufficient, as they can be easily replicated by sophisticated counterfeiters.</a:t>
            </a:r>
            <a:endParaRPr kumimoji="1" lang="zh-CN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682702" y="273330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</a:t>
            </a:r>
            <a:r>
              <a:rPr kumimoji="1" lang="en-US" altLang="zh-C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kumimoji="1" lang="zh-CN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630117" y="273330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46117" y="1504273"/>
            <a:ext cx="107378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0000CC"/>
                </a:solidFill>
                <a:latin typeface="poppins-bold"/>
                <a:ea typeface="poppins-bold"/>
                <a:cs typeface="poppins-bold"/>
              </a:rPr>
              <a:t>The Counterfeiting Epidemic</a:t>
            </a:r>
            <a:endParaRPr kumimoji="1" lang="zh-CN" altLang="en-US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949450" y="1965293"/>
            <a:ext cx="8916427" cy="132695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标题 1"/>
          <p:cNvSpPr txBox="1"/>
          <p:nvPr/>
        </p:nvSpPr>
        <p:spPr>
          <a:xfrm rot="5400000">
            <a:off x="1331356" y="1416637"/>
            <a:ext cx="2074122" cy="2109988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5400000">
            <a:off x="1331357" y="1389422"/>
            <a:ext cx="2074121" cy="1862627"/>
          </a:xfrm>
          <a:prstGeom prst="hexagon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56" y="1473332"/>
            <a:ext cx="1731526" cy="1805051"/>
          </a:xfrm>
          <a:custGeom>
            <a:avLst/>
            <a:gdLst/>
            <a:ahLst/>
            <a:cxnLst/>
            <a:rect l="l" t="t" r="r" b="b"/>
            <a:pathLst>
              <a:path w="1731526" h="2008571">
                <a:moveTo>
                  <a:pt x="865763" y="0"/>
                </a:moveTo>
                <a:lnTo>
                  <a:pt x="1731526" y="432882"/>
                </a:lnTo>
                <a:lnTo>
                  <a:pt x="1731526" y="1575689"/>
                </a:lnTo>
                <a:lnTo>
                  <a:pt x="865763" y="2008571"/>
                </a:lnTo>
                <a:lnTo>
                  <a:pt x="0" y="1575689"/>
                </a:lnTo>
                <a:lnTo>
                  <a:pt x="0" y="43288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3680976" y="2016976"/>
            <a:ext cx="6994747" cy="1104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is a critical need for a system that can not only verify a product's digital identity but also authenticate its physical characteristics.</a:t>
            </a:r>
            <a:endParaRPr kumimoji="1"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139950" y="4458867"/>
            <a:ext cx="8916427" cy="132695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1331356" y="3910211"/>
            <a:ext cx="2074122" cy="2109988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331357" y="3882996"/>
            <a:ext cx="2074121" cy="1862627"/>
          </a:xfrm>
          <a:prstGeom prst="hexagon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56" y="3948970"/>
            <a:ext cx="1731526" cy="1836849"/>
          </a:xfrm>
          <a:custGeom>
            <a:avLst/>
            <a:gdLst/>
            <a:ahLst/>
            <a:cxnLst/>
            <a:rect l="l" t="t" r="r" b="b"/>
            <a:pathLst>
              <a:path w="1731526" h="2008571">
                <a:moveTo>
                  <a:pt x="865763" y="0"/>
                </a:moveTo>
                <a:lnTo>
                  <a:pt x="1731526" y="432882"/>
                </a:lnTo>
                <a:lnTo>
                  <a:pt x="1731526" y="1575689"/>
                </a:lnTo>
                <a:lnTo>
                  <a:pt x="865763" y="2008571"/>
                </a:lnTo>
                <a:lnTo>
                  <a:pt x="0" y="1575689"/>
                </a:lnTo>
                <a:lnTo>
                  <a:pt x="0" y="43288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" name="标题 1"/>
          <p:cNvSpPr txBox="1"/>
          <p:nvPr/>
        </p:nvSpPr>
        <p:spPr>
          <a:xfrm>
            <a:off x="3680975" y="4510550"/>
            <a:ext cx="7272775" cy="1104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presentation proposes a hybrid model that combines the physical analysis capability of 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 (AI) 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the immutable trust of </a:t>
            </a:r>
            <a:r>
              <a:rPr kumimoji="1" lang="en-US" altLang="zh-CN" sz="20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technology to create a robust and secure anti- counterfeiting solution.</a:t>
            </a:r>
            <a:endParaRPr kumimoji="1"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1133524" y="474609"/>
            <a:ext cx="107378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0000CC"/>
                </a:solidFill>
                <a:latin typeface="poppins-bold"/>
                <a:ea typeface="poppins-bold"/>
                <a:cs typeface="poppins-bold"/>
              </a:rPr>
              <a:t>The Need for a Advanced Solution</a:t>
            </a:r>
            <a:endParaRPr kumimoji="1" lang="zh-CN" altLang="en-US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 flipH="1">
            <a:off x="619125" y="2663980"/>
            <a:ext cx="11059495" cy="0"/>
          </a:xfrm>
          <a:prstGeom prst="line">
            <a:avLst/>
          </a:prstGeom>
          <a:noFill/>
          <a:ln w="12700" cap="sq">
            <a:solidFill>
              <a:schemeClr val="accent2"/>
            </a:solidFill>
            <a:prstDash val="solid"/>
            <a:miter/>
          </a:ln>
        </p:spPr>
      </p:cxnSp>
      <p:sp>
        <p:nvSpPr>
          <p:cNvPr id="5" name="标题 1"/>
          <p:cNvSpPr txBox="1"/>
          <p:nvPr/>
        </p:nvSpPr>
        <p:spPr>
          <a:xfrm>
            <a:off x="2423160" y="2587780"/>
            <a:ext cx="152400" cy="152400"/>
          </a:xfrm>
          <a:prstGeom prst="ellipse">
            <a:avLst/>
          </a:prstGeom>
          <a:solidFill>
            <a:schemeClr val="accent1"/>
          </a:solidFill>
          <a:ln w="50800" cap="sq">
            <a:solidFill>
              <a:schemeClr val="accent2"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28545" y="2738241"/>
            <a:ext cx="2069557" cy="535264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algn="ctr"/>
            <a:r>
              <a:rPr kumimoji="1" lang="en-US" altLang="zh-CN" sz="2400" b="1" dirty="0">
                <a:ln w="12700">
                  <a:noFill/>
                </a:ln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</a:t>
            </a:r>
            <a:endParaRPr kumimoji="1" lang="zh-CN" altLang="en-US" sz="2800" b="1" dirty="0">
              <a:solidFill>
                <a:srgbClr val="0000C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82702" y="3544693"/>
            <a:ext cx="3111386" cy="247510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ctr"/>
            <a:r>
              <a:rPr kumimoji="1" lang="en-US" altLang="zh-CN" sz="20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computer vision and machine learning to analyze visual features of a product (e.g., stitching, texture, logo alignment, micro- features).</a:t>
            </a:r>
            <a:endParaRPr kumimoji="1"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019800" y="2587780"/>
            <a:ext cx="152400" cy="152400"/>
          </a:xfrm>
          <a:prstGeom prst="ellipse">
            <a:avLst/>
          </a:prstGeom>
          <a:solidFill>
            <a:schemeClr val="accent1"/>
          </a:solidFill>
          <a:ln w="50800" cap="sq">
            <a:solidFill>
              <a:schemeClr val="accent2"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061222" y="2742610"/>
            <a:ext cx="2069557" cy="713064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algn="ctr"/>
            <a:r>
              <a:rPr kumimoji="1" lang="en-US" altLang="zh-CN" sz="2000" b="1" dirty="0">
                <a:ln w="12700">
                  <a:noFill/>
                </a:ln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Study </a:t>
            </a:r>
          </a:p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(e.g.,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Entrupy</a:t>
            </a: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)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4476791" y="3544693"/>
            <a:ext cx="3302792" cy="2589533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ctr"/>
            <a:r>
              <a:rPr kumimoji="1" lang="en-US" altLang="zh-CN" sz="20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Demonstrated high accuracy in authenticating luxury goods by comparing product images against a vast database of genuine and fake items.</a:t>
            </a:r>
            <a:endParaRPr kumimoji="1"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9616440" y="2587780"/>
            <a:ext cx="152400" cy="152400"/>
          </a:xfrm>
          <a:prstGeom prst="ellipse">
            <a:avLst/>
          </a:prstGeom>
          <a:solidFill>
            <a:schemeClr val="accent1"/>
          </a:solidFill>
          <a:ln w="50800" cap="sq">
            <a:solidFill>
              <a:schemeClr val="accent2"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626611" y="2670672"/>
            <a:ext cx="2069557" cy="509864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algn="ctr"/>
            <a:r>
              <a:rPr kumimoji="1" lang="en-US" altLang="zh-CN" sz="2000" b="1" dirty="0">
                <a:ln w="12700">
                  <a:noFill/>
                </a:ln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</a:t>
            </a:r>
            <a:endParaRPr kumimoji="1" lang="zh-CN" altLang="en-US" sz="2400" b="1" dirty="0">
              <a:solidFill>
                <a:srgbClr val="0000C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8397912" y="3544693"/>
            <a:ext cx="2990788" cy="2665733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standalone AI system lacks a secure, immutable record of a product's origin and verification history.</a:t>
            </a:r>
            <a:endParaRPr kumimoji="1" lang="zh-CN" altLang="en-US" sz="28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Literature Review</a:t>
            </a:r>
            <a:endParaRPr kumimoji="1" lang="zh-CN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50899" y="1286174"/>
            <a:ext cx="107378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00B050"/>
                </a:solidFill>
                <a:latin typeface="poppins-bold"/>
                <a:ea typeface="poppins-bold"/>
                <a:cs typeface="poppins-bold"/>
              </a:rPr>
              <a:t>1. Image Recognition &amp; AI Analysis</a:t>
            </a:r>
            <a:endParaRPr kumimoji="1"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10422" y="1791370"/>
            <a:ext cx="3168000" cy="3780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82422" y="1879602"/>
            <a:ext cx="3024000" cy="3600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87305" y="1550736"/>
            <a:ext cx="794088" cy="79408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695688" y="5168232"/>
            <a:ext cx="545432" cy="5454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90877" y="1684195"/>
            <a:ext cx="586942" cy="52717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31442" y="3096465"/>
            <a:ext cx="2592000" cy="23444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a decentralized, tamper- proof ledger to record each step of a product's journey from manufacturer to consumer.</a:t>
            </a:r>
            <a:endParaRPr kumimoji="1" lang="zh-CN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3798537" y="5292234"/>
            <a:ext cx="339734" cy="297428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85671" y="1550736"/>
            <a:ext cx="112297" cy="1122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87305" y="2437067"/>
            <a:ext cx="160419" cy="1604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98422" y="2224174"/>
            <a:ext cx="2592000" cy="71896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 b="1" dirty="0">
                <a:ln w="12700">
                  <a:noFill/>
                </a:ln>
                <a:solidFill>
                  <a:srgbClr val="D27D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</a:t>
            </a:r>
            <a:endParaRPr kumimoji="1" lang="zh-CN" altLang="en-US" sz="2400" b="1" dirty="0">
              <a:solidFill>
                <a:srgbClr val="D27D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4664237" y="1791370"/>
            <a:ext cx="3168000" cy="3780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736237" y="1879602"/>
            <a:ext cx="3024000" cy="3600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241120" y="1550736"/>
            <a:ext cx="794088" cy="79408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549503" y="5168232"/>
            <a:ext cx="545432" cy="54543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344692" y="1684195"/>
            <a:ext cx="586942" cy="52717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952237" y="3135119"/>
            <a:ext cx="2592000" cy="23444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Successfully implemented for tracking high- value goods, providing transparency and traceability.</a:t>
            </a:r>
            <a:endParaRPr kumimoji="1" lang="zh-CN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7652352" y="5271081"/>
            <a:ext cx="339734" cy="339734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139487" y="1550736"/>
            <a:ext cx="112297" cy="1122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241120" y="2437067"/>
            <a:ext cx="160419" cy="1604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860613" y="2217408"/>
            <a:ext cx="2719581" cy="71896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 b="1" dirty="0">
                <a:ln w="12700">
                  <a:noFill/>
                </a:ln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Study </a:t>
            </a:r>
          </a:p>
          <a:p>
            <a:pPr algn="ctr"/>
            <a:r>
              <a:rPr kumimoji="1" lang="en-US" altLang="zh-CN" sz="1600" b="1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(e.g., </a:t>
            </a:r>
            <a:r>
              <a:rPr kumimoji="1" lang="en-US" altLang="zh-CN" sz="1600" b="1" dirty="0" err="1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VeChain</a:t>
            </a:r>
            <a:r>
              <a:rPr kumimoji="1" lang="en-US" altLang="zh-CN" sz="1600" b="1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altLang="zh-CN" sz="1600" b="1" dirty="0" err="1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Everledger</a:t>
            </a:r>
            <a:r>
              <a:rPr kumimoji="1" lang="en-US" altLang="zh-CN" sz="1600" b="1" dirty="0">
                <a:ln w="12700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kumimoji="1" lang="zh-CN" altLang="en-US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8518052" y="1791370"/>
            <a:ext cx="3168000" cy="3780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590052" y="1879602"/>
            <a:ext cx="3024000" cy="3600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8094935" y="1550736"/>
            <a:ext cx="794088" cy="79408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1403318" y="5168232"/>
            <a:ext cx="545432" cy="5454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8198507" y="1684195"/>
            <a:ext cx="586942" cy="52717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8710170" y="3099140"/>
            <a:ext cx="2592000" cy="23444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 only secures the digital data. It cannot verify if the physical item holding the QR/NFC tag is genuine.</a:t>
            </a:r>
            <a:endParaRPr kumimoji="1" lang="zh-CN" altLang="en-US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11506167" y="5292234"/>
            <a:ext cx="339734" cy="297428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8993301" y="1550736"/>
            <a:ext cx="112297" cy="1122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8094935" y="2437067"/>
            <a:ext cx="160419" cy="1604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8806052" y="2224174"/>
            <a:ext cx="2592000" cy="71896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 b="1" dirty="0">
                <a:ln w="12700">
                  <a:noFill/>
                </a:ln>
                <a:solidFill>
                  <a:srgbClr val="D27D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</a:t>
            </a:r>
            <a:endParaRPr kumimoji="1" lang="zh-CN" altLang="en-US" sz="2400" b="1" dirty="0">
              <a:solidFill>
                <a:srgbClr val="D27D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标题 1"/>
          <p:cNvSpPr txBox="1"/>
          <p:nvPr/>
        </p:nvSpPr>
        <p:spPr>
          <a:xfrm>
            <a:off x="490877" y="406985"/>
            <a:ext cx="107378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00B050"/>
                </a:solidFill>
                <a:latin typeface="poppins-bold"/>
                <a:ea typeface="poppins-bold"/>
                <a:cs typeface="poppins-bold"/>
              </a:rPr>
              <a:t>2.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00B050"/>
                </a:solidFill>
                <a:latin typeface="poppins-bold"/>
                <a:ea typeface="poppins-bold"/>
                <a:cs typeface="poppins-bold"/>
              </a:rPr>
              <a:t>Blockchain</a:t>
            </a:r>
            <a:r>
              <a:rPr kumimoji="1" lang="en-US" altLang="zh-CN" sz="2800" dirty="0">
                <a:ln w="12700">
                  <a:noFill/>
                </a:ln>
                <a:solidFill>
                  <a:srgbClr val="00B050"/>
                </a:solidFill>
                <a:latin typeface="poppins-bold"/>
                <a:ea typeface="poppins-bold"/>
                <a:cs typeface="poppins-bold"/>
              </a:rPr>
              <a:t> for Supply Chain</a:t>
            </a:r>
            <a:endParaRPr kumimoji="1"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5940" y="-2048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36876" y="1700564"/>
            <a:ext cx="1963548" cy="403718"/>
          </a:xfrm>
          <a:custGeom>
            <a:avLst/>
            <a:gdLst>
              <a:gd name="connsiteX0" fmla="*/ 0 w 1963548"/>
              <a:gd name="connsiteY0" fmla="*/ 0 h 403718"/>
              <a:gd name="connsiteX1" fmla="*/ 1963549 w 1963548"/>
              <a:gd name="connsiteY1" fmla="*/ 0 h 403718"/>
              <a:gd name="connsiteX2" fmla="*/ 1963549 w 1963548"/>
              <a:gd name="connsiteY2" fmla="*/ 403719 h 403718"/>
              <a:gd name="connsiteX3" fmla="*/ 0 w 1963548"/>
              <a:gd name="connsiteY3" fmla="*/ 403719 h 403718"/>
            </a:gdLst>
            <a:ahLst/>
            <a:cxnLst/>
            <a:rect l="l" t="t" r="r" b="b"/>
            <a:pathLst>
              <a:path w="1963548" h="403718">
                <a:moveTo>
                  <a:pt x="0" y="0"/>
                </a:moveTo>
                <a:lnTo>
                  <a:pt x="1963549" y="0"/>
                </a:lnTo>
                <a:lnTo>
                  <a:pt x="1963549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36876" y="1703261"/>
            <a:ext cx="814431" cy="403718"/>
          </a:xfrm>
          <a:custGeom>
            <a:avLst/>
            <a:gdLst>
              <a:gd name="connsiteX0" fmla="*/ 0 w 814431"/>
              <a:gd name="connsiteY0" fmla="*/ 0 h 403718"/>
              <a:gd name="connsiteX1" fmla="*/ 814431 w 814431"/>
              <a:gd name="connsiteY1" fmla="*/ 0 h 403718"/>
              <a:gd name="connsiteX2" fmla="*/ 814431 w 814431"/>
              <a:gd name="connsiteY2" fmla="*/ 403719 h 403718"/>
              <a:gd name="connsiteX3" fmla="*/ 0 w 814431"/>
              <a:gd name="connsiteY3" fmla="*/ 403719 h 403718"/>
            </a:gdLst>
            <a:ahLst/>
            <a:cxnLst/>
            <a:rect l="l" t="t" r="r" b="b"/>
            <a:pathLst>
              <a:path w="814431" h="403718">
                <a:moveTo>
                  <a:pt x="0" y="0"/>
                </a:moveTo>
                <a:lnTo>
                  <a:pt x="814431" y="0"/>
                </a:lnTo>
                <a:lnTo>
                  <a:pt x="814431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1943442" y="1604441"/>
            <a:ext cx="11360" cy="594218"/>
          </a:xfrm>
          <a:custGeom>
            <a:avLst/>
            <a:gdLst>
              <a:gd name="connsiteX0" fmla="*/ 0 w 11360"/>
              <a:gd name="connsiteY0" fmla="*/ 0 h 594218"/>
              <a:gd name="connsiteX1" fmla="*/ 11360 w 11360"/>
              <a:gd name="connsiteY1" fmla="*/ 0 h 594218"/>
              <a:gd name="connsiteX2" fmla="*/ 11360 w 11360"/>
              <a:gd name="connsiteY2" fmla="*/ 594218 h 594218"/>
              <a:gd name="connsiteX3" fmla="*/ 0 w 11360"/>
              <a:gd name="connsiteY3" fmla="*/ 594218 h 594218"/>
            </a:gdLst>
            <a:ahLst/>
            <a:cxnLst/>
            <a:rect l="l" t="t" r="r" b="b"/>
            <a:pathLst>
              <a:path w="11360" h="594218">
                <a:moveTo>
                  <a:pt x="0" y="0"/>
                </a:moveTo>
                <a:lnTo>
                  <a:pt x="11360" y="0"/>
                </a:lnTo>
                <a:lnTo>
                  <a:pt x="11360" y="594218"/>
                </a:lnTo>
                <a:lnTo>
                  <a:pt x="0" y="59421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472931" y="1681520"/>
            <a:ext cx="7975059" cy="7969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20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solutions address either the 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digital trail </a:t>
            </a:r>
            <a:r>
              <a:rPr kumimoji="1" lang="en-US" altLang="zh-CN" sz="20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kumimoji="1" lang="en-US" altLang="zh-CN" sz="20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or the 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authenticity </a:t>
            </a:r>
            <a:r>
              <a:rPr kumimoji="1" lang="en-US" altLang="zh-CN" sz="20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(AI) in isolation.</a:t>
            </a:r>
            <a:endParaRPr kumimoji="1" lang="zh-CN" altLang="en-US" sz="3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1136876" y="3111779"/>
            <a:ext cx="1963548" cy="403718"/>
          </a:xfrm>
          <a:custGeom>
            <a:avLst/>
            <a:gdLst>
              <a:gd name="connsiteX0" fmla="*/ 0 w 1963548"/>
              <a:gd name="connsiteY0" fmla="*/ 0 h 403718"/>
              <a:gd name="connsiteX1" fmla="*/ 1963549 w 1963548"/>
              <a:gd name="connsiteY1" fmla="*/ 0 h 403718"/>
              <a:gd name="connsiteX2" fmla="*/ 1963549 w 1963548"/>
              <a:gd name="connsiteY2" fmla="*/ 403719 h 403718"/>
              <a:gd name="connsiteX3" fmla="*/ 0 w 1963548"/>
              <a:gd name="connsiteY3" fmla="*/ 403719 h 403718"/>
            </a:gdLst>
            <a:ahLst/>
            <a:cxnLst/>
            <a:rect l="l" t="t" r="r" b="b"/>
            <a:pathLst>
              <a:path w="1963548" h="403718">
                <a:moveTo>
                  <a:pt x="0" y="0"/>
                </a:moveTo>
                <a:lnTo>
                  <a:pt x="1963549" y="0"/>
                </a:lnTo>
                <a:lnTo>
                  <a:pt x="1963549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876" y="3111779"/>
            <a:ext cx="814431" cy="403718"/>
          </a:xfrm>
          <a:custGeom>
            <a:avLst/>
            <a:gdLst>
              <a:gd name="connsiteX0" fmla="*/ 0 w 814431"/>
              <a:gd name="connsiteY0" fmla="*/ 0 h 403718"/>
              <a:gd name="connsiteX1" fmla="*/ 814431 w 814431"/>
              <a:gd name="connsiteY1" fmla="*/ 0 h 403718"/>
              <a:gd name="connsiteX2" fmla="*/ 814431 w 814431"/>
              <a:gd name="connsiteY2" fmla="*/ 403719 h 403718"/>
              <a:gd name="connsiteX3" fmla="*/ 0 w 814431"/>
              <a:gd name="connsiteY3" fmla="*/ 403719 h 403718"/>
            </a:gdLst>
            <a:ahLst/>
            <a:cxnLst/>
            <a:rect l="l" t="t" r="r" b="b"/>
            <a:pathLst>
              <a:path w="814431" h="403718">
                <a:moveTo>
                  <a:pt x="0" y="0"/>
                </a:moveTo>
                <a:lnTo>
                  <a:pt x="814431" y="0"/>
                </a:lnTo>
                <a:lnTo>
                  <a:pt x="814431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10800000">
            <a:off x="1943442" y="3015656"/>
            <a:ext cx="11360" cy="594218"/>
          </a:xfrm>
          <a:custGeom>
            <a:avLst/>
            <a:gdLst>
              <a:gd name="connsiteX0" fmla="*/ 0 w 11360"/>
              <a:gd name="connsiteY0" fmla="*/ 0 h 594218"/>
              <a:gd name="connsiteX1" fmla="*/ 11360 w 11360"/>
              <a:gd name="connsiteY1" fmla="*/ 0 h 594218"/>
              <a:gd name="connsiteX2" fmla="*/ 11360 w 11360"/>
              <a:gd name="connsiteY2" fmla="*/ 594218 h 594218"/>
              <a:gd name="connsiteX3" fmla="*/ 0 w 11360"/>
              <a:gd name="connsiteY3" fmla="*/ 594218 h 594218"/>
            </a:gdLst>
            <a:ahLst/>
            <a:cxnLst/>
            <a:rect l="l" t="t" r="r" b="b"/>
            <a:pathLst>
              <a:path w="11360" h="594218">
                <a:moveTo>
                  <a:pt x="0" y="0"/>
                </a:moveTo>
                <a:lnTo>
                  <a:pt x="11360" y="0"/>
                </a:lnTo>
                <a:lnTo>
                  <a:pt x="11360" y="594218"/>
                </a:lnTo>
                <a:lnTo>
                  <a:pt x="0" y="59421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565825" y="3111779"/>
            <a:ext cx="7754378" cy="7121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Opportunity:</a:t>
            </a:r>
            <a:r>
              <a:rPr kumimoji="1" lang="en-US" altLang="zh-CN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Integrating both technologies creates a powerful synergy.</a:t>
            </a:r>
            <a:endParaRPr kumimoji="1"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1136876" y="4495557"/>
            <a:ext cx="1963548" cy="403718"/>
          </a:xfrm>
          <a:custGeom>
            <a:avLst/>
            <a:gdLst>
              <a:gd name="connsiteX0" fmla="*/ 0 w 1963548"/>
              <a:gd name="connsiteY0" fmla="*/ 0 h 403718"/>
              <a:gd name="connsiteX1" fmla="*/ 1963549 w 1963548"/>
              <a:gd name="connsiteY1" fmla="*/ 0 h 403718"/>
              <a:gd name="connsiteX2" fmla="*/ 1963549 w 1963548"/>
              <a:gd name="connsiteY2" fmla="*/ 403719 h 403718"/>
              <a:gd name="connsiteX3" fmla="*/ 0 w 1963548"/>
              <a:gd name="connsiteY3" fmla="*/ 403719 h 403718"/>
            </a:gdLst>
            <a:ahLst/>
            <a:cxnLst/>
            <a:rect l="l" t="t" r="r" b="b"/>
            <a:pathLst>
              <a:path w="1963548" h="403718">
                <a:moveTo>
                  <a:pt x="0" y="0"/>
                </a:moveTo>
                <a:lnTo>
                  <a:pt x="1963549" y="0"/>
                </a:lnTo>
                <a:lnTo>
                  <a:pt x="1963549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136876" y="4495557"/>
            <a:ext cx="814431" cy="403718"/>
          </a:xfrm>
          <a:custGeom>
            <a:avLst/>
            <a:gdLst>
              <a:gd name="connsiteX0" fmla="*/ 0 w 814431"/>
              <a:gd name="connsiteY0" fmla="*/ 0 h 403718"/>
              <a:gd name="connsiteX1" fmla="*/ 814431 w 814431"/>
              <a:gd name="connsiteY1" fmla="*/ 0 h 403718"/>
              <a:gd name="connsiteX2" fmla="*/ 814431 w 814431"/>
              <a:gd name="connsiteY2" fmla="*/ 403719 h 403718"/>
              <a:gd name="connsiteX3" fmla="*/ 0 w 814431"/>
              <a:gd name="connsiteY3" fmla="*/ 403719 h 403718"/>
            </a:gdLst>
            <a:ahLst/>
            <a:cxnLst/>
            <a:rect l="l" t="t" r="r" b="b"/>
            <a:pathLst>
              <a:path w="814431" h="403718">
                <a:moveTo>
                  <a:pt x="0" y="0"/>
                </a:moveTo>
                <a:lnTo>
                  <a:pt x="814431" y="0"/>
                </a:lnTo>
                <a:lnTo>
                  <a:pt x="814431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>
            <a:off x="1943442" y="4399434"/>
            <a:ext cx="11360" cy="594218"/>
          </a:xfrm>
          <a:custGeom>
            <a:avLst/>
            <a:gdLst>
              <a:gd name="connsiteX0" fmla="*/ 0 w 11360"/>
              <a:gd name="connsiteY0" fmla="*/ 0 h 594218"/>
              <a:gd name="connsiteX1" fmla="*/ 11360 w 11360"/>
              <a:gd name="connsiteY1" fmla="*/ 0 h 594218"/>
              <a:gd name="connsiteX2" fmla="*/ 11360 w 11360"/>
              <a:gd name="connsiteY2" fmla="*/ 594218 h 594218"/>
              <a:gd name="connsiteX3" fmla="*/ 0 w 11360"/>
              <a:gd name="connsiteY3" fmla="*/ 594218 h 594218"/>
            </a:gdLst>
            <a:ahLst/>
            <a:cxnLst/>
            <a:rect l="l" t="t" r="r" b="b"/>
            <a:pathLst>
              <a:path w="11360" h="594218">
                <a:moveTo>
                  <a:pt x="0" y="0"/>
                </a:moveTo>
                <a:lnTo>
                  <a:pt x="11360" y="0"/>
                </a:lnTo>
                <a:lnTo>
                  <a:pt x="11360" y="594218"/>
                </a:lnTo>
                <a:lnTo>
                  <a:pt x="0" y="59421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3600715" y="4549137"/>
            <a:ext cx="6204766" cy="5273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2000" dirty="0">
                <a:ln w="12700">
                  <a:noFill/>
                </a:ln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project aims to bridge this gap.</a:t>
            </a:r>
            <a:endParaRPr kumimoji="1" lang="zh-CN" altLang="en-US" sz="3200" dirty="0">
              <a:solidFill>
                <a:schemeClr val="accent3">
                  <a:lumMod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2000232" y="1704093"/>
            <a:ext cx="1058574" cy="4020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标题 1"/>
          <p:cNvSpPr txBox="1"/>
          <p:nvPr/>
        </p:nvSpPr>
        <p:spPr>
          <a:xfrm>
            <a:off x="1988394" y="3115308"/>
            <a:ext cx="1058574" cy="4020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标题 1"/>
          <p:cNvSpPr txBox="1"/>
          <p:nvPr/>
        </p:nvSpPr>
        <p:spPr>
          <a:xfrm>
            <a:off x="2008307" y="4499086"/>
            <a:ext cx="1058574" cy="4020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632745" y="538647"/>
            <a:ext cx="107378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00B050"/>
                </a:solidFill>
                <a:latin typeface="poppins-bold"/>
                <a:ea typeface="poppins-bold"/>
                <a:cs typeface="poppins-bold"/>
              </a:rPr>
              <a:t>3. The Gap and The Opportunity</a:t>
            </a:r>
            <a:endParaRPr kumimoji="1"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580243" y="1524420"/>
            <a:ext cx="9211582" cy="3657600"/>
          </a:xfrm>
          <a:prstGeom prst="roundRect">
            <a:avLst>
              <a:gd name="adj" fmla="val 12699"/>
            </a:avLst>
          </a:prstGeom>
          <a:noFill/>
          <a:ln w="25400" cap="sq">
            <a:solidFill>
              <a:schemeClr val="accent1"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just"/>
            <a:r>
              <a:rPr lang="en-US" sz="2800" dirty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existing anti-counterfeiting measures are insufficient to reliably verify a product's authenticity due to the disconnect between securing its digital identity and validating its physical attributes, leading to widespread economic loss and consumer risk</a:t>
            </a:r>
            <a:endParaRPr kumimoji="1" lang="zh-CN" altLang="en-US" sz="2800" dirty="0">
              <a:solidFill>
                <a:srgbClr val="0000C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Problem statement</a:t>
            </a:r>
            <a:endParaRPr kumimoji="1" lang="zh-CN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6709583"/>
            <a:ext cx="12192000" cy="148417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 Solution</a:t>
            </a:r>
            <a:endParaRPr kumimoji="1" lang="zh-CN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 txBox="1">
            <a:spLocks/>
          </p:cNvSpPr>
          <p:nvPr/>
        </p:nvSpPr>
        <p:spPr>
          <a:xfrm>
            <a:off x="1118118" y="1127013"/>
            <a:ext cx="10499437" cy="98869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hybrid framework named </a:t>
            </a:r>
            <a:r>
              <a:rPr lang="en-US" sz="2400" b="1" dirty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lang="en-US" sz="2400" b="1" dirty="0" err="1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VeriScan</a:t>
            </a:r>
            <a:r>
              <a:rPr lang="en-US" sz="2400" b="1" dirty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AI"</a:t>
            </a:r>
            <a:r>
              <a:rPr lang="en-US" sz="2400" dirty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that integrates AI-based visual analysis with </a:t>
            </a:r>
            <a:r>
              <a:rPr lang="en-US" sz="2400" dirty="0" err="1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US" sz="2400" dirty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-based immutable record-keeping.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0000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0000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0000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7B562-9523-B39D-7D7F-EB1C5EA4D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43" y="2315933"/>
            <a:ext cx="8340514" cy="4193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464345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434818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Rectangle 16"/>
          <p:cNvSpPr/>
          <p:nvPr/>
        </p:nvSpPr>
        <p:spPr>
          <a:xfrm>
            <a:off x="692755" y="500720"/>
            <a:ext cx="4915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n w="12700">
                  <a:noFill/>
                </a:ln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Implementation</a:t>
            </a:r>
            <a:endParaRPr kumimoji="1" lang="zh-CN" altLang="en-US" sz="2800" b="1" dirty="0">
              <a:solidFill>
                <a:srgbClr val="0000C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5030BA2-569B-E841-CB20-3BBF0AF87D11}"/>
              </a:ext>
            </a:extLst>
          </p:cNvPr>
          <p:cNvSpPr txBox="1">
            <a:spLocks/>
          </p:cNvSpPr>
          <p:nvPr/>
        </p:nvSpPr>
        <p:spPr>
          <a:xfrm>
            <a:off x="885825" y="1212394"/>
            <a:ext cx="10010775" cy="46079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Component</a:t>
            </a:r>
            <a:endParaRPr lang="en-IN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Model Architecture</a:t>
            </a: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 CNN (Convolutional Neural Networks) for image analysis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 Transfer Learning with ResNet-50 backbone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 Micro-feature detection algorithms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 Anomaly detection for counterfeit identification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IN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Data Required: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10,000+ genuine product images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5,000+ counterfeit samples</a:t>
            </a:r>
            <a:b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Multiple angles and lighting conditions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CB7DD98-BC60-ADF7-0B79-2F987201015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6284686"/>
            <a:ext cx="12192000" cy="573314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70478" y="6138091"/>
            <a:ext cx="10851044" cy="33237"/>
          </a:xfrm>
          <a:prstGeom prst="rect">
            <a:avLst/>
          </a:prstGeom>
          <a:gradFill>
            <a:gsLst>
              <a:gs pos="14000">
                <a:schemeClr val="bg1">
                  <a:lumMod val="100000"/>
                  <a:alpha val="61000"/>
                </a:schemeClr>
              </a:gs>
              <a:gs pos="97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4" name="Group 23"/>
          <p:cNvGrpSpPr/>
          <p:nvPr/>
        </p:nvGrpSpPr>
        <p:grpSpPr>
          <a:xfrm>
            <a:off x="8524876" y="1440254"/>
            <a:ext cx="3381374" cy="3657600"/>
            <a:chOff x="8066844" y="2539410"/>
            <a:chExt cx="3565783" cy="3284534"/>
          </a:xfrm>
        </p:grpSpPr>
        <p:sp>
          <p:nvSpPr>
            <p:cNvPr id="10" name="标题 1"/>
            <p:cNvSpPr txBox="1"/>
            <p:nvPr/>
          </p:nvSpPr>
          <p:spPr>
            <a:xfrm flipH="1">
              <a:off x="10510470" y="2550467"/>
              <a:ext cx="1044270" cy="1201514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19000">
                  <a:schemeClr val="accent1">
                    <a:lumMod val="20000"/>
                    <a:lumOff val="80000"/>
                    <a:alpha val="32000"/>
                  </a:schemeClr>
                </a:gs>
                <a:gs pos="97000">
                  <a:schemeClr val="accent1">
                    <a:alpha val="99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9050" cap="sq">
              <a:gradFill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H="1">
              <a:off x="8066844" y="4248694"/>
              <a:ext cx="890135" cy="1024169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19000">
                  <a:schemeClr val="accent1">
                    <a:lumMod val="20000"/>
                    <a:lumOff val="80000"/>
                    <a:alpha val="64000"/>
                  </a:schemeClr>
                </a:gs>
                <a:gs pos="97000">
                  <a:schemeClr val="accent1"/>
                </a:gs>
              </a:gsLst>
              <a:path path="circle">
                <a:fillToRect l="100000" b="100000"/>
              </a:path>
              <a:tileRect t="-100000" r="-100000"/>
            </a:gradFill>
            <a:ln w="19050" cap="sq">
              <a:gradFill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8481316" y="3644809"/>
              <a:ext cx="503137" cy="578896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>
              <a:off x="10946289" y="3781292"/>
              <a:ext cx="611287" cy="703333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>
              <a:off x="10112364" y="5250059"/>
              <a:ext cx="419455" cy="482615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19000">
                  <a:schemeClr val="bg1">
                    <a:lumMod val="100000"/>
                  </a:schemeClr>
                </a:gs>
                <a:gs pos="95000">
                  <a:schemeClr val="accent1">
                    <a:alpha val="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9839182" y="2539410"/>
              <a:ext cx="369118" cy="424698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14000">
                  <a:schemeClr val="bg1">
                    <a:lumMod val="100000"/>
                    <a:alpha val="61000"/>
                  </a:schemeClr>
                </a:gs>
                <a:gs pos="97000">
                  <a:schemeClr val="accent1">
                    <a:lumMod val="60000"/>
                    <a:lumOff val="40000"/>
                    <a:alpha val="42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11406390" y="4427672"/>
              <a:ext cx="226237" cy="260304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18000">
                  <a:schemeClr val="accent1">
                    <a:alpha val="45000"/>
                  </a:schemeClr>
                </a:gs>
                <a:gs pos="85000">
                  <a:schemeClr val="accent1">
                    <a:alpha val="16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2700" cap="sq">
              <a:noFill/>
              <a:miter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9102434" y="3334516"/>
              <a:ext cx="1711658" cy="1969396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12700" cap="sq">
              <a:noFill/>
              <a:miter/>
            </a:ln>
            <a:effectLst>
              <a:outerShdw blurRad="419100" dist="241300" dir="2700000" sx="98000" sy="98000" algn="tl" rotWithShape="0">
                <a:schemeClr val="accent1">
                  <a:alpha val="39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8765631" y="2654272"/>
              <a:ext cx="828801" cy="953602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10637687" y="4870342"/>
              <a:ext cx="828801" cy="953602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8973432" y="5039854"/>
              <a:ext cx="369118" cy="424698"/>
            </a:xfrm>
            <a:custGeom>
              <a:avLst/>
              <a:gdLst>
                <a:gd name="connsiteX0" fmla="*/ 1401174 w 2705750"/>
                <a:gd name="connsiteY0" fmla="*/ 11412 h 3113177"/>
                <a:gd name="connsiteX1" fmla="*/ 2646049 w 2705750"/>
                <a:gd name="connsiteY1" fmla="*/ 633850 h 3113177"/>
                <a:gd name="connsiteX2" fmla="*/ 2705750 w 2705750"/>
                <a:gd name="connsiteY2" fmla="*/ 730448 h 3113177"/>
                <a:gd name="connsiteX3" fmla="*/ 2705750 w 2705750"/>
                <a:gd name="connsiteY3" fmla="*/ 2382748 h 3113177"/>
                <a:gd name="connsiteX4" fmla="*/ 2646049 w 2705750"/>
                <a:gd name="connsiteY4" fmla="*/ 2479346 h 3113177"/>
                <a:gd name="connsiteX5" fmla="*/ 1401174 w 2705750"/>
                <a:gd name="connsiteY5" fmla="*/ 3101785 h 3113177"/>
                <a:gd name="connsiteX6" fmla="*/ 1304576 w 2705750"/>
                <a:gd name="connsiteY6" fmla="*/ 3101785 h 3113177"/>
                <a:gd name="connsiteX7" fmla="*/ 59701 w 2705750"/>
                <a:gd name="connsiteY7" fmla="*/ 2479346 h 3113177"/>
                <a:gd name="connsiteX8" fmla="*/ 0 w 2705750"/>
                <a:gd name="connsiteY8" fmla="*/ 2382748 h 3113177"/>
                <a:gd name="connsiteX9" fmla="*/ 0 w 2705750"/>
                <a:gd name="connsiteY9" fmla="*/ 730448 h 3113177"/>
                <a:gd name="connsiteX10" fmla="*/ 59701 w 2705750"/>
                <a:gd name="connsiteY10" fmla="*/ 633850 h 3113177"/>
                <a:gd name="connsiteX11" fmla="*/ 1304576 w 2705750"/>
                <a:gd name="connsiteY11" fmla="*/ 11412 h 3113177"/>
                <a:gd name="connsiteX12" fmla="*/ 1401174 w 2705750"/>
                <a:gd name="connsiteY12" fmla="*/ 11412 h 3113177"/>
              </a:gdLst>
              <a:ahLst/>
              <a:cxnLst/>
              <a:rect l="l" t="t" r="r" b="b"/>
              <a:pathLst>
                <a:path w="2705750" h="3113177">
                  <a:moveTo>
                    <a:pt x="1401174" y="11412"/>
                  </a:moveTo>
                  <a:lnTo>
                    <a:pt x="2646049" y="633850"/>
                  </a:lnTo>
                  <a:cubicBezTo>
                    <a:pt x="2682645" y="652148"/>
                    <a:pt x="2705750" y="689531"/>
                    <a:pt x="2705750" y="730448"/>
                  </a:cubicBezTo>
                  <a:lnTo>
                    <a:pt x="2705750" y="2382748"/>
                  </a:lnTo>
                  <a:cubicBezTo>
                    <a:pt x="2705750" y="2423665"/>
                    <a:pt x="2682645" y="2461048"/>
                    <a:pt x="2646049" y="2479346"/>
                  </a:cubicBezTo>
                  <a:lnTo>
                    <a:pt x="1401174" y="3101785"/>
                  </a:lnTo>
                  <a:cubicBezTo>
                    <a:pt x="1370794" y="3116975"/>
                    <a:pt x="1334956" y="3116975"/>
                    <a:pt x="1304576" y="3101785"/>
                  </a:cubicBezTo>
                  <a:lnTo>
                    <a:pt x="59701" y="2479346"/>
                  </a:lnTo>
                  <a:cubicBezTo>
                    <a:pt x="23104" y="2461048"/>
                    <a:pt x="0" y="2423665"/>
                    <a:pt x="0" y="2382748"/>
                  </a:cubicBezTo>
                  <a:lnTo>
                    <a:pt x="0" y="730448"/>
                  </a:lnTo>
                  <a:cubicBezTo>
                    <a:pt x="0" y="689531"/>
                    <a:pt x="23104" y="652148"/>
                    <a:pt x="59701" y="633850"/>
                  </a:cubicBezTo>
                  <a:lnTo>
                    <a:pt x="1304576" y="11412"/>
                  </a:lnTo>
                  <a:cubicBezTo>
                    <a:pt x="1335004" y="-3803"/>
                    <a:pt x="1370746" y="-3803"/>
                    <a:pt x="1401174" y="11412"/>
                  </a:cubicBezTo>
                </a:path>
              </a:pathLst>
            </a:custGeom>
            <a:gradFill>
              <a:gsLst>
                <a:gs pos="14000">
                  <a:schemeClr val="bg1">
                    <a:lumMod val="100000"/>
                    <a:alpha val="61000"/>
                  </a:schemeClr>
                </a:gs>
                <a:gs pos="97000">
                  <a:schemeClr val="accent1">
                    <a:lumMod val="60000"/>
                    <a:lumOff val="40000"/>
                    <a:alpha val="42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905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000124" y="3269054"/>
            <a:ext cx="7019925" cy="27392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 Contract Functions</a:t>
            </a:r>
            <a:endParaRPr lang="en-IN" sz="22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IN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registerProduct</a:t>
            </a:r>
            <a:r>
              <a:rPr lang="en-IN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IN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verifyAuthenticity</a:t>
            </a:r>
            <a:r>
              <a:rPr lang="en-IN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IN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getVerificationHistory</a:t>
            </a:r>
            <a:r>
              <a:rPr lang="en-IN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IN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updateProductStatus</a:t>
            </a:r>
            <a:r>
              <a:rPr lang="en-IN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124" y="299043"/>
            <a:ext cx="7019925" cy="273921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IN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IN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Component</a:t>
            </a:r>
            <a:endParaRPr lang="en-US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Ethereum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/Polygon for low-cost transactions</a:t>
            </a: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 Contracts for verification logic</a:t>
            </a: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IPFS for image storage</a:t>
            </a:r>
          </a:p>
          <a:p>
            <a:pPr lvl="1">
              <a:lnSpc>
                <a:spcPct val="120000"/>
              </a:lnSpc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Web3.js for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endParaRPr kumimoji="1" lang="zh-CN" altLang="en-US" sz="32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 txBox="1">
            <a:spLocks/>
          </p:cNvSpPr>
          <p:nvPr/>
        </p:nvSpPr>
        <p:spPr>
          <a:xfrm>
            <a:off x="682702" y="1328217"/>
            <a:ext cx="10880648" cy="450196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Design and Develop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 robust AI model capable of identifying counterfeit products by analyzing micro-features and visual characteristics from user-submitted images.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Implement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 secure and scalable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infrastructure (e.g., on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Ethereum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/Polygon) for creating digital product twins and logging immutable verification records.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Integrate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the AI analysis module with the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backend into a seamless, user-friendly mobile application for end-users.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Evaluate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the system's accuracy, performance, and resistance to common counterfeit attacks, targeting a high rate of successful fake product detection.</a:t>
            </a:r>
          </a:p>
        </p:txBody>
      </p:sp>
    </p:spTree>
    <p:extLst>
      <p:ext uri="{BB962C8B-B14F-4D97-AF65-F5344CB8AC3E}">
        <p14:creationId xmlns:p14="http://schemas.microsoft.com/office/powerpoint/2010/main" val="274662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ttomBar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itleBox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 Demo – Screenshot 1</a:t>
            </a:r>
          </a:p>
        </p:txBody>
      </p:sp>
      <p:sp>
        <p:nvSpPr>
          <p:cNvPr id="8" name="Dot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Caption1"/>
          <p:cNvSpPr txBox="1"/>
          <p:nvPr/>
        </p:nvSpPr>
        <p:spPr>
          <a:xfrm>
            <a:off x="490000" y="4900000"/>
            <a:ext cx="11200000" cy="40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sz="1600" i="1" dirty="0">
                <a:solidFill>
                  <a:srgbClr val="888888"/>
                </a:solidFill>
                <a:latin typeface="Tahoma" pitchFamily="34" charset="0"/>
              </a:rPr>
              <a:t>Fig. 1 &amp; 2 – VeriScan AI Web Interface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5842A-4079-3CBF-E26E-92116799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" y="1468504"/>
            <a:ext cx="5354764" cy="3096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E70BE3-C1DD-4DE6-EFAB-5699BE6BC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001" y="1468504"/>
            <a:ext cx="5598000" cy="3096524"/>
          </a:xfrm>
          <a:prstGeom prst="rect">
            <a:avLst/>
          </a:prstGeom>
        </p:spPr>
      </p:pic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2B86EBA2-17B5-1988-2383-5BF97402F0C4}"/>
              </a:ext>
            </a:extLst>
          </p:cNvPr>
          <p:cNvSpPr txBox="1"/>
          <p:nvPr/>
        </p:nvSpPr>
        <p:spPr>
          <a:xfrm>
            <a:off x="682702" y="5702095"/>
            <a:ext cx="816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 for my website: </a:t>
            </a:r>
            <a:r>
              <a:rPr lang="en-US" dirty="0">
                <a:hlinkClick r:id="rId5" action="ppaction://hlinkfile"/>
              </a:rPr>
              <a:t>https://shoumik1908.github.io/Fake_Product__Identification/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ttomBar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itleBox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 Demo – Screenshot 2</a:t>
            </a:r>
          </a:p>
        </p:txBody>
      </p:sp>
      <p:sp>
        <p:nvSpPr>
          <p:cNvPr id="8" name="Dot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ScreenshotLeft"/>
          <p:cNvSpPr txBox="1"/>
          <p:nvPr/>
        </p:nvSpPr>
        <p:spPr>
          <a:xfrm>
            <a:off x="490000" y="1200000"/>
            <a:ext cx="5200000" cy="3600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CCCCC"/>
            </a:solidFill>
            <a:prstDash val="dash"/>
          </a:ln>
        </p:spPr>
        <p:txBody>
          <a:bodyPr vert="horz" wrap="square" lIns="91440" tIns="91440" rIns="91440" bIns="91440" rtlCol="0" anchor="ctr"/>
          <a:lstStyle/>
          <a:p>
            <a:pPr algn="ctr"/>
            <a:r>
              <a:rPr lang="en-US" sz="2000" b="1" dirty="0">
                <a:solidFill>
                  <a:srgbClr val="AAAAAA"/>
                </a:solidFill>
                <a:latin typeface="Tahoma" pitchFamily="34" charset="0"/>
              </a:rPr>
              <a:t>[ Add Screenshot Here ]</a:t>
            </a:r>
          </a:p>
          <a:p>
            <a:pPr algn="ctr"/>
            <a:r>
              <a:rPr lang="en-US" sz="1600" dirty="0">
                <a:solidFill>
                  <a:srgbClr val="BBBBBB"/>
                </a:solidFill>
                <a:latin typeface="Tahoma" pitchFamily="34" charset="0"/>
              </a:rPr>
              <a:t>Scan Result / Authentication Output</a:t>
            </a:r>
          </a:p>
        </p:txBody>
      </p:sp>
      <p:sp>
        <p:nvSpPr>
          <p:cNvPr id="22" name="Caption1"/>
          <p:cNvSpPr txBox="1"/>
          <p:nvPr/>
        </p:nvSpPr>
        <p:spPr>
          <a:xfrm>
            <a:off x="490000" y="5134412"/>
            <a:ext cx="11200000" cy="40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sz="1600" i="1" dirty="0">
                <a:solidFill>
                  <a:srgbClr val="888888"/>
                </a:solidFill>
                <a:latin typeface="Tahoma" pitchFamily="34" charset="0"/>
              </a:rPr>
              <a:t>Fig. 3 &amp; 4 – VeriScan AI Web Interface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22416-91E1-270C-26B0-418FB3CD3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3" y="1104345"/>
            <a:ext cx="5787813" cy="39344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F27813-5A10-DCA8-454D-2DE3C965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000" y="1651189"/>
            <a:ext cx="5773990" cy="30647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ttomBar">
            <a:extLst>
              <a:ext uri="{FF2B5EF4-FFF2-40B4-BE49-F238E27FC236}">
                <a16:creationId xmlns:a16="http://schemas.microsoft.com/office/drawing/2014/main" id="{0A1364C7-66F3-A20F-711C-CA6583E21C83}"/>
              </a:ext>
            </a:extLst>
          </p:cNvPr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TitleBox">
            <a:extLst>
              <a:ext uri="{FF2B5EF4-FFF2-40B4-BE49-F238E27FC236}">
                <a16:creationId xmlns:a16="http://schemas.microsoft.com/office/drawing/2014/main" id="{CFDF8CC7-CC01-742D-9BE5-C6DCBC640446}"/>
              </a:ext>
            </a:extLst>
          </p:cNvPr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 Demo – Screenshot 3</a:t>
            </a:r>
          </a:p>
        </p:txBody>
      </p:sp>
      <p:sp>
        <p:nvSpPr>
          <p:cNvPr id="4" name="Dot">
            <a:extLst>
              <a:ext uri="{FF2B5EF4-FFF2-40B4-BE49-F238E27FC236}">
                <a16:creationId xmlns:a16="http://schemas.microsoft.com/office/drawing/2014/main" id="{F2D2F608-21A5-A8C5-6D76-5FE77B01A196}"/>
              </a:ext>
            </a:extLst>
          </p:cNvPr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ScreenshotLeft">
            <a:extLst>
              <a:ext uri="{FF2B5EF4-FFF2-40B4-BE49-F238E27FC236}">
                <a16:creationId xmlns:a16="http://schemas.microsoft.com/office/drawing/2014/main" id="{3153B62D-0D03-34C6-349F-E102BD508C9C}"/>
              </a:ext>
            </a:extLst>
          </p:cNvPr>
          <p:cNvSpPr txBox="1"/>
          <p:nvPr/>
        </p:nvSpPr>
        <p:spPr>
          <a:xfrm>
            <a:off x="490000" y="1200000"/>
            <a:ext cx="5200000" cy="3600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CCCCC"/>
            </a:solidFill>
            <a:prstDash val="dash"/>
          </a:ln>
        </p:spPr>
        <p:txBody>
          <a:bodyPr vert="horz" wrap="square" lIns="91440" tIns="91440" rIns="91440" bIns="91440" rtlCol="0" anchor="ctr"/>
          <a:lstStyle/>
          <a:p>
            <a:pPr algn="ctr"/>
            <a:r>
              <a:rPr lang="en-US" sz="2000" b="1" dirty="0">
                <a:solidFill>
                  <a:srgbClr val="AAAAAA"/>
                </a:solidFill>
                <a:latin typeface="Tahoma" pitchFamily="34" charset="0"/>
              </a:rPr>
              <a:t>[ Add Screenshot Here ]</a:t>
            </a:r>
          </a:p>
          <a:p>
            <a:pPr algn="ctr"/>
            <a:r>
              <a:rPr lang="en-US" sz="1600" dirty="0">
                <a:solidFill>
                  <a:srgbClr val="BBBBBB"/>
                </a:solidFill>
                <a:latin typeface="Tahoma" pitchFamily="34" charset="0"/>
              </a:rPr>
              <a:t>Scan Result / Authentication Output</a:t>
            </a:r>
          </a:p>
        </p:txBody>
      </p:sp>
      <p:sp>
        <p:nvSpPr>
          <p:cNvPr id="6" name="Caption1">
            <a:extLst>
              <a:ext uri="{FF2B5EF4-FFF2-40B4-BE49-F238E27FC236}">
                <a16:creationId xmlns:a16="http://schemas.microsoft.com/office/drawing/2014/main" id="{A3DAF793-3108-4F92-C0EE-2E244CED7C32}"/>
              </a:ext>
            </a:extLst>
          </p:cNvPr>
          <p:cNvSpPr txBox="1"/>
          <p:nvPr/>
        </p:nvSpPr>
        <p:spPr>
          <a:xfrm>
            <a:off x="490000" y="5134412"/>
            <a:ext cx="11200000" cy="40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sz="1600" i="1" dirty="0">
                <a:solidFill>
                  <a:srgbClr val="888888"/>
                </a:solidFill>
                <a:latin typeface="Tahoma" pitchFamily="34" charset="0"/>
              </a:rPr>
              <a:t>Fig. 5 &amp; 6 – VeriScan AI Web Interface Demo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0786D3-8543-A22B-4C1A-CE737AE92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23" y="1049843"/>
            <a:ext cx="5706643" cy="40845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1414FC-D87D-BDCC-B598-06C68000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110" y="1386159"/>
            <a:ext cx="6241567" cy="356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90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ttomBar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/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itleBox"/>
          <p:cNvSpPr txBox="1"/>
          <p:nvPr/>
        </p:nvSpPr>
        <p:spPr>
          <a:xfrm>
            <a:off x="493099" y="392345"/>
            <a:ext cx="8000000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itchFamily="34" charset="0"/>
              </a:rPr>
              <a:t>    </a:t>
            </a:r>
            <a:r>
              <a:rPr lang="en-US" sz="3200" b="1" dirty="0">
                <a:latin typeface="Tahoma" pitchFamily="34" charset="0"/>
              </a:rPr>
              <a:t>Model Accuracy &amp; Performance</a:t>
            </a:r>
          </a:p>
        </p:txBody>
      </p:sp>
      <p:sp>
        <p:nvSpPr>
          <p:cNvPr id="8" name="Dot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TblHdr"/>
          <p:cNvSpPr txBox="1"/>
          <p:nvPr/>
        </p:nvSpPr>
        <p:spPr>
          <a:xfrm>
            <a:off x="493099" y="1833220"/>
            <a:ext cx="11200000" cy="4600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182880" tIns="91440" rIns="182880" bIns="9144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Metric</a:t>
            </a:r>
          </a:p>
        </p:txBody>
      </p:sp>
      <p:sp>
        <p:nvSpPr>
          <p:cNvPr id="40" name="TblHdr2"/>
          <p:cNvSpPr txBox="1"/>
          <p:nvPr/>
        </p:nvSpPr>
        <p:spPr>
          <a:xfrm>
            <a:off x="4203099" y="1833220"/>
            <a:ext cx="2800000" cy="460000"/>
          </a:xfrm>
          <a:prstGeom prst="rect">
            <a:avLst/>
          </a:prstGeom>
          <a:solidFill>
            <a:srgbClr val="1A5276"/>
          </a:solidFill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Value</a:t>
            </a:r>
          </a:p>
        </p:txBody>
      </p:sp>
      <p:sp>
        <p:nvSpPr>
          <p:cNvPr id="41" name="TblHdr3"/>
          <p:cNvSpPr txBox="1"/>
          <p:nvPr/>
        </p:nvSpPr>
        <p:spPr>
          <a:xfrm>
            <a:off x="7003099" y="1833220"/>
            <a:ext cx="4690000" cy="460000"/>
          </a:xfrm>
          <a:prstGeom prst="rect">
            <a:avLst/>
          </a:prstGeom>
          <a:solidFill>
            <a:srgbClr val="154360"/>
          </a:solidFill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Details</a:t>
            </a:r>
          </a:p>
        </p:txBody>
      </p:sp>
      <p:sp>
        <p:nvSpPr>
          <p:cNvPr id="31" name="R1C1"/>
          <p:cNvSpPr txBox="1"/>
          <p:nvPr/>
        </p:nvSpPr>
        <p:spPr>
          <a:xfrm>
            <a:off x="493099" y="2293220"/>
            <a:ext cx="3710000" cy="43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700" b="1" dirty="0">
                <a:latin typeface="Tahoma" pitchFamily="34" charset="0"/>
              </a:rPr>
              <a:t>Overall Accuracy</a:t>
            </a:r>
          </a:p>
        </p:txBody>
      </p:sp>
      <p:sp>
        <p:nvSpPr>
          <p:cNvPr id="2" name="R1C2"/>
          <p:cNvSpPr txBox="1"/>
          <p:nvPr/>
        </p:nvSpPr>
        <p:spPr>
          <a:xfrm>
            <a:off x="4203099" y="2293220"/>
            <a:ext cx="2800000" cy="430000"/>
          </a:xfrm>
          <a:prstGeom prst="rect">
            <a:avLst/>
          </a:prstGeom>
          <a:solidFill>
            <a:srgbClr val="D6EAF8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700" b="1" dirty="0">
                <a:solidFill>
                  <a:srgbClr val="1A5276"/>
                </a:solidFill>
                <a:latin typeface="Tahoma" pitchFamily="34" charset="0"/>
              </a:rPr>
              <a:t>[ 86.34 % ]</a:t>
            </a:r>
          </a:p>
        </p:txBody>
      </p:sp>
      <p:sp>
        <p:nvSpPr>
          <p:cNvPr id="4" name="R1C3"/>
          <p:cNvSpPr txBox="1"/>
          <p:nvPr/>
        </p:nvSpPr>
        <p:spPr>
          <a:xfrm>
            <a:off x="7003099" y="2293220"/>
            <a:ext cx="4690000" cy="43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600" dirty="0">
                <a:latin typeface="Tahoma" pitchFamily="34" charset="0"/>
              </a:rPr>
              <a:t>CNN + ResNet-50 on test dataset</a:t>
            </a:r>
          </a:p>
        </p:txBody>
      </p:sp>
      <p:sp>
        <p:nvSpPr>
          <p:cNvPr id="32" name="R2C1"/>
          <p:cNvSpPr txBox="1"/>
          <p:nvPr/>
        </p:nvSpPr>
        <p:spPr>
          <a:xfrm>
            <a:off x="493099" y="2723220"/>
            <a:ext cx="3710000" cy="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700" b="1" dirty="0">
                <a:latin typeface="Tahoma" pitchFamily="34" charset="0"/>
              </a:rPr>
              <a:t>Precision</a:t>
            </a:r>
          </a:p>
        </p:txBody>
      </p:sp>
      <p:sp>
        <p:nvSpPr>
          <p:cNvPr id="5" name="R2C2"/>
          <p:cNvSpPr txBox="1"/>
          <p:nvPr/>
        </p:nvSpPr>
        <p:spPr>
          <a:xfrm>
            <a:off x="4203099" y="2723220"/>
            <a:ext cx="2800000" cy="430000"/>
          </a:xfrm>
          <a:prstGeom prst="rect">
            <a:avLst/>
          </a:prstGeom>
          <a:solidFill>
            <a:srgbClr val="EBF5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700" b="1" dirty="0">
                <a:solidFill>
                  <a:srgbClr val="1A5276"/>
                </a:solidFill>
                <a:latin typeface="Tahoma" pitchFamily="34" charset="0"/>
              </a:rPr>
              <a:t>[ 86.35% ]</a:t>
            </a:r>
          </a:p>
        </p:txBody>
      </p:sp>
      <p:sp>
        <p:nvSpPr>
          <p:cNvPr id="6" name="R2C3"/>
          <p:cNvSpPr txBox="1"/>
          <p:nvPr/>
        </p:nvSpPr>
        <p:spPr>
          <a:xfrm>
            <a:off x="7003099" y="2723220"/>
            <a:ext cx="4690000" cy="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600" dirty="0">
                <a:latin typeface="Tahoma" pitchFamily="34" charset="0"/>
              </a:rPr>
              <a:t>Genuine vs. Counterfeit classification</a:t>
            </a:r>
          </a:p>
        </p:txBody>
      </p:sp>
      <p:sp>
        <p:nvSpPr>
          <p:cNvPr id="33" name="R3C1"/>
          <p:cNvSpPr txBox="1"/>
          <p:nvPr/>
        </p:nvSpPr>
        <p:spPr>
          <a:xfrm>
            <a:off x="493099" y="3153220"/>
            <a:ext cx="3710000" cy="43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700" b="1" dirty="0">
                <a:latin typeface="Tahoma" pitchFamily="34" charset="0"/>
              </a:rPr>
              <a:t>Recall</a:t>
            </a:r>
          </a:p>
        </p:txBody>
      </p:sp>
      <p:sp>
        <p:nvSpPr>
          <p:cNvPr id="9" name="R3C2"/>
          <p:cNvSpPr txBox="1"/>
          <p:nvPr/>
        </p:nvSpPr>
        <p:spPr>
          <a:xfrm>
            <a:off x="4203099" y="3153220"/>
            <a:ext cx="2800000" cy="430000"/>
          </a:xfrm>
          <a:prstGeom prst="rect">
            <a:avLst/>
          </a:prstGeom>
          <a:solidFill>
            <a:srgbClr val="D6EAF8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700" b="1" dirty="0">
                <a:solidFill>
                  <a:srgbClr val="1A5276"/>
                </a:solidFill>
                <a:latin typeface="Tahoma" pitchFamily="34" charset="0"/>
              </a:rPr>
              <a:t>[ 86.34 % ]</a:t>
            </a:r>
          </a:p>
        </p:txBody>
      </p:sp>
      <p:sp>
        <p:nvSpPr>
          <p:cNvPr id="10" name="R3C3"/>
          <p:cNvSpPr txBox="1"/>
          <p:nvPr/>
        </p:nvSpPr>
        <p:spPr>
          <a:xfrm>
            <a:off x="7003099" y="3153220"/>
            <a:ext cx="4690000" cy="43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600" dirty="0">
                <a:latin typeface="Tahoma" pitchFamily="34" charset="0"/>
              </a:rPr>
              <a:t>Fake detection sensitivity</a:t>
            </a:r>
          </a:p>
        </p:txBody>
      </p:sp>
      <p:sp>
        <p:nvSpPr>
          <p:cNvPr id="34" name="R4C1"/>
          <p:cNvSpPr txBox="1"/>
          <p:nvPr/>
        </p:nvSpPr>
        <p:spPr>
          <a:xfrm>
            <a:off x="493099" y="3583220"/>
            <a:ext cx="3710000" cy="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700" b="1" dirty="0">
                <a:latin typeface="Tahoma" pitchFamily="34" charset="0"/>
              </a:rPr>
              <a:t>F1-Score</a:t>
            </a:r>
          </a:p>
        </p:txBody>
      </p:sp>
      <p:sp>
        <p:nvSpPr>
          <p:cNvPr id="11" name="R4C2"/>
          <p:cNvSpPr txBox="1"/>
          <p:nvPr/>
        </p:nvSpPr>
        <p:spPr>
          <a:xfrm>
            <a:off x="4203099" y="3583220"/>
            <a:ext cx="2800000" cy="430000"/>
          </a:xfrm>
          <a:prstGeom prst="rect">
            <a:avLst/>
          </a:prstGeom>
          <a:solidFill>
            <a:srgbClr val="EBF5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700" b="1" dirty="0">
                <a:solidFill>
                  <a:srgbClr val="1A5276"/>
                </a:solidFill>
                <a:latin typeface="Tahoma" pitchFamily="34" charset="0"/>
              </a:rPr>
              <a:t>[ 86.34% ]</a:t>
            </a:r>
          </a:p>
        </p:txBody>
      </p:sp>
      <p:sp>
        <p:nvSpPr>
          <p:cNvPr id="12" name="R4C3"/>
          <p:cNvSpPr txBox="1"/>
          <p:nvPr/>
        </p:nvSpPr>
        <p:spPr>
          <a:xfrm>
            <a:off x="7003099" y="3583220"/>
            <a:ext cx="4690000" cy="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600" dirty="0">
                <a:latin typeface="Tahoma" pitchFamily="34" charset="0"/>
              </a:rPr>
              <a:t>Harmonic mean of Precision &amp; Recall</a:t>
            </a:r>
          </a:p>
        </p:txBody>
      </p:sp>
      <p:sp>
        <p:nvSpPr>
          <p:cNvPr id="35" name="R5C1"/>
          <p:cNvSpPr txBox="1"/>
          <p:nvPr/>
        </p:nvSpPr>
        <p:spPr>
          <a:xfrm>
            <a:off x="493099" y="4013220"/>
            <a:ext cx="3710000" cy="43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700" b="1" dirty="0">
                <a:latin typeface="Tahoma" pitchFamily="34" charset="0"/>
              </a:rPr>
              <a:t>Training Dataset</a:t>
            </a:r>
          </a:p>
        </p:txBody>
      </p:sp>
      <p:sp>
        <p:nvSpPr>
          <p:cNvPr id="13" name="R5C2"/>
          <p:cNvSpPr txBox="1"/>
          <p:nvPr/>
        </p:nvSpPr>
        <p:spPr>
          <a:xfrm>
            <a:off x="4203099" y="4013220"/>
            <a:ext cx="2800000" cy="430000"/>
          </a:xfrm>
          <a:prstGeom prst="rect">
            <a:avLst/>
          </a:prstGeom>
          <a:solidFill>
            <a:srgbClr val="D6EAF8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700" b="1" dirty="0">
                <a:solidFill>
                  <a:srgbClr val="1A5276"/>
                </a:solidFill>
                <a:latin typeface="Tahoma" pitchFamily="34" charset="0"/>
              </a:rPr>
              <a:t>3800+ images</a:t>
            </a:r>
          </a:p>
        </p:txBody>
      </p:sp>
      <p:sp>
        <p:nvSpPr>
          <p:cNvPr id="14" name="R5C3"/>
          <p:cNvSpPr txBox="1"/>
          <p:nvPr/>
        </p:nvSpPr>
        <p:spPr>
          <a:xfrm>
            <a:off x="7003099" y="4013220"/>
            <a:ext cx="4690000" cy="43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600">
                <a:latin typeface="Tahoma" pitchFamily="34" charset="0"/>
              </a:rPr>
              <a:t>1400 </a:t>
            </a:r>
            <a:r>
              <a:rPr lang="en-US" sz="1600" dirty="0">
                <a:latin typeface="Tahoma" pitchFamily="34" charset="0"/>
              </a:rPr>
              <a:t>genuine </a:t>
            </a:r>
            <a:r>
              <a:rPr lang="en-US" sz="1600">
                <a:latin typeface="Tahoma" pitchFamily="34" charset="0"/>
              </a:rPr>
              <a:t>+ 1500 </a:t>
            </a:r>
            <a:r>
              <a:rPr lang="en-US" sz="1600" dirty="0">
                <a:latin typeface="Tahoma" pitchFamily="34" charset="0"/>
              </a:rPr>
              <a:t>counterfeit samples</a:t>
            </a:r>
          </a:p>
        </p:txBody>
      </p:sp>
      <p:sp>
        <p:nvSpPr>
          <p:cNvPr id="36" name="R6C1"/>
          <p:cNvSpPr txBox="1"/>
          <p:nvPr/>
        </p:nvSpPr>
        <p:spPr>
          <a:xfrm>
            <a:off x="493099" y="4443220"/>
            <a:ext cx="3710000" cy="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700" b="1" dirty="0">
                <a:latin typeface="Tahoma" pitchFamily="34" charset="0"/>
              </a:rPr>
              <a:t>Model Architecture</a:t>
            </a:r>
          </a:p>
        </p:txBody>
      </p:sp>
      <p:sp>
        <p:nvSpPr>
          <p:cNvPr id="15" name="R6C2"/>
          <p:cNvSpPr txBox="1"/>
          <p:nvPr/>
        </p:nvSpPr>
        <p:spPr>
          <a:xfrm>
            <a:off x="4203099" y="4443220"/>
            <a:ext cx="2800000" cy="430000"/>
          </a:xfrm>
          <a:prstGeom prst="rect">
            <a:avLst/>
          </a:prstGeom>
          <a:solidFill>
            <a:srgbClr val="EBF5FB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pPr algn="ctr"/>
            <a:r>
              <a:rPr lang="en-US" sz="1700" b="1" dirty="0">
                <a:solidFill>
                  <a:srgbClr val="1A5276"/>
                </a:solidFill>
                <a:latin typeface="Tahoma" pitchFamily="34" charset="0"/>
              </a:rPr>
              <a:t>CNN / ResNet-50</a:t>
            </a:r>
          </a:p>
        </p:txBody>
      </p:sp>
      <p:sp>
        <p:nvSpPr>
          <p:cNvPr id="16" name="R6C3"/>
          <p:cNvSpPr txBox="1"/>
          <p:nvPr/>
        </p:nvSpPr>
        <p:spPr>
          <a:xfrm>
            <a:off x="7003099" y="4443220"/>
            <a:ext cx="4690000" cy="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600" dirty="0">
                <a:latin typeface="Tahoma" pitchFamily="34" charset="0"/>
              </a:rPr>
              <a:t>Transfer Learning with fine-tuning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ttomBar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/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itleBox"/>
          <p:cNvSpPr txBox="1"/>
          <p:nvPr/>
        </p:nvSpPr>
        <p:spPr>
          <a:xfrm>
            <a:off x="493099" y="392345"/>
            <a:ext cx="7286484" cy="612000"/>
          </a:xfrm>
          <a:prstGeom prst="roundRect">
            <a:avLst>
              <a:gd name="adj" fmla="val 50000"/>
            </a:avLst>
          </a:prstGeom>
          <a:gradFill>
            <a:gsLst>
              <a:gs pos="5000">
                <a:schemeClr val="bg1">
                  <a:lumMod val="95000"/>
                </a:schemeClr>
              </a:gs>
              <a:gs pos="85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sz="32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Tahoma" pitchFamily="34" charset="0"/>
              </a:rPr>
              <a:t>    </a:t>
            </a:r>
            <a:r>
              <a:rPr lang="en-US" sz="3200" b="1" dirty="0">
                <a:latin typeface="Tahoma" pitchFamily="34" charset="0"/>
              </a:rPr>
              <a:t>What We Have Achieved</a:t>
            </a:r>
          </a:p>
        </p:txBody>
      </p:sp>
      <p:sp>
        <p:nvSpPr>
          <p:cNvPr id="8" name="Dot"/>
          <p:cNvSpPr txBox="1"/>
          <p:nvPr/>
        </p:nvSpPr>
        <p:spPr>
          <a:xfrm>
            <a:off x="466702" y="336383"/>
            <a:ext cx="216000" cy="216000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Ach1Box"/>
          <p:cNvSpPr txBox="1"/>
          <p:nvPr/>
        </p:nvSpPr>
        <p:spPr>
          <a:xfrm>
            <a:off x="493099" y="2064903"/>
            <a:ext cx="400000" cy="40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91440" tIns="91440" rIns="91440" bIns="9144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51" name="Ach1Text"/>
          <p:cNvSpPr txBox="1"/>
          <p:nvPr/>
        </p:nvSpPr>
        <p:spPr>
          <a:xfrm>
            <a:off x="1023099" y="2034903"/>
            <a:ext cx="10660000" cy="75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DDEE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900" b="1" dirty="0">
                <a:latin typeface="Tahoma" pitchFamily="34" charset="0"/>
              </a:rPr>
              <a:t>AI-Powered Counterfeit Detection Model</a:t>
            </a:r>
          </a:p>
          <a:p>
            <a:r>
              <a:rPr lang="en-US" sz="1600" dirty="0">
                <a:solidFill>
                  <a:srgbClr val="444444"/>
                </a:solidFill>
                <a:latin typeface="Tahoma" pitchFamily="34" charset="0"/>
              </a:rPr>
              <a:t>Built and trained a CNN (ResNet-50) model for image-based product authentication using micro-feature analysis.</a:t>
            </a:r>
          </a:p>
        </p:txBody>
      </p:sp>
      <p:sp>
        <p:nvSpPr>
          <p:cNvPr id="52" name="Ach2Box"/>
          <p:cNvSpPr txBox="1"/>
          <p:nvPr/>
        </p:nvSpPr>
        <p:spPr>
          <a:xfrm>
            <a:off x="493099" y="2884903"/>
            <a:ext cx="400000" cy="40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91440" tIns="91440" rIns="91440" bIns="9144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53" name="Ach2Text"/>
          <p:cNvSpPr txBox="1"/>
          <p:nvPr/>
        </p:nvSpPr>
        <p:spPr>
          <a:xfrm>
            <a:off x="1023099" y="2854903"/>
            <a:ext cx="1066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900" b="1" dirty="0">
                <a:latin typeface="Tahoma" pitchFamily="34" charset="0"/>
              </a:rPr>
              <a:t>End-to-End Web Application (</a:t>
            </a:r>
            <a:r>
              <a:rPr lang="en-US" sz="1900" b="1" dirty="0" err="1">
                <a:latin typeface="Tahoma" pitchFamily="34" charset="0"/>
              </a:rPr>
              <a:t>VeriScan</a:t>
            </a:r>
            <a:r>
              <a:rPr lang="en-US" sz="1900" b="1" dirty="0">
                <a:latin typeface="Tahoma" pitchFamily="34" charset="0"/>
              </a:rPr>
              <a:t> AI)</a:t>
            </a:r>
          </a:p>
          <a:p>
            <a:r>
              <a:rPr lang="en-US" sz="1600" dirty="0">
                <a:solidFill>
                  <a:srgbClr val="444444"/>
                </a:solidFill>
                <a:latin typeface="Tahoma" pitchFamily="34" charset="0"/>
              </a:rPr>
              <a:t>Developed a user-facing web interface integrating AI analysis and blockchain lookup for real-time product scanning.</a:t>
            </a:r>
          </a:p>
        </p:txBody>
      </p:sp>
      <p:sp>
        <p:nvSpPr>
          <p:cNvPr id="54" name="Ach3Box"/>
          <p:cNvSpPr txBox="1"/>
          <p:nvPr/>
        </p:nvSpPr>
        <p:spPr>
          <a:xfrm>
            <a:off x="493099" y="3704903"/>
            <a:ext cx="400000" cy="40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91440" tIns="91440" rIns="91440" bIns="9144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55" name="Ach3Text"/>
          <p:cNvSpPr txBox="1"/>
          <p:nvPr/>
        </p:nvSpPr>
        <p:spPr>
          <a:xfrm>
            <a:off x="1023099" y="3674903"/>
            <a:ext cx="10660000" cy="750000"/>
          </a:xfrm>
          <a:prstGeom prst="rect">
            <a:avLst/>
          </a:prstGeom>
          <a:solidFill>
            <a:srgbClr val="EEF4FB"/>
          </a:solidFill>
          <a:ln w="9525">
            <a:solidFill>
              <a:srgbClr val="CCDDEE"/>
            </a:solidFill>
          </a:ln>
        </p:spPr>
        <p:txBody>
          <a:bodyPr vert="horz" wrap="square" lIns="182880" tIns="91440" rIns="182880" bIns="91440" rtlCol="0" anchor="ctr"/>
          <a:lstStyle/>
          <a:p>
            <a:r>
              <a:rPr lang="en-US" sz="19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Validated High-Precision Performance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Achieved consistent benchmarks of ~86% across Accuracy, Precision, and Recall, ensuring the model remains highly sensitive to subtle micro-features during counterfeit detection</a:t>
            </a:r>
            <a:r>
              <a:rPr lang="en-US" sz="1600" dirty="0"/>
              <a:t>.</a:t>
            </a:r>
            <a:endParaRPr lang="en-US" sz="1600" dirty="0">
              <a:solidFill>
                <a:srgbClr val="444444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00176" y="616064"/>
            <a:ext cx="227140" cy="22714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6500" y="498605"/>
            <a:ext cx="5276850" cy="5088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0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References</a:t>
            </a:r>
            <a:endParaRPr kumimoji="1" lang="zh-CN" alt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 txBox="1">
            <a:spLocks/>
          </p:cNvSpPr>
          <p:nvPr/>
        </p:nvSpPr>
        <p:spPr>
          <a:xfrm>
            <a:off x="838200" y="1454149"/>
            <a:ext cx="10515600" cy="35464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Entrupy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Inc. "How </a:t>
            </a: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Entrupy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Works: Science Behind the Technology”. (2023).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Nakamoto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S. "Bitcoin: A Peer-to-Peer Electronic Cash System”. (2008).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Toyoda, K., et al. "A Novel </a:t>
            </a: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-Based Product Ownership Management System (POMS) for Anti-Counterfeits in the Post-Supply Chain”. IEEE Access (2017).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Hyperledger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Foundation. "</a:t>
            </a: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Hyperledger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Fabric: A </a:t>
            </a:r>
            <a:r>
              <a:rPr lang="en-IN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Blockchain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Platform for Business”. (2023).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7864727" y="2019299"/>
            <a:ext cx="3761214" cy="425418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0" y="6154057"/>
            <a:ext cx="12192000" cy="703943"/>
          </a:xfrm>
          <a:custGeom>
            <a:avLst/>
            <a:gdLst>
              <a:gd name="connsiteX0" fmla="*/ 370427 w 12192000"/>
              <a:gd name="connsiteY0" fmla="*/ 0 h 558800"/>
              <a:gd name="connsiteX1" fmla="*/ 11821573 w 12192000"/>
              <a:gd name="connsiteY1" fmla="*/ 0 h 558800"/>
              <a:gd name="connsiteX2" fmla="*/ 12192000 w 12192000"/>
              <a:gd name="connsiteY2" fmla="*/ 370427 h 558800"/>
              <a:gd name="connsiteX3" fmla="*/ 12192000 w 12192000"/>
              <a:gd name="connsiteY3" fmla="*/ 558800 h 558800"/>
              <a:gd name="connsiteX4" fmla="*/ 0 w 12192000"/>
              <a:gd name="connsiteY4" fmla="*/ 558800 h 558800"/>
              <a:gd name="connsiteX5" fmla="*/ 0 w 12192000"/>
              <a:gd name="connsiteY5" fmla="*/ 370427 h 558800"/>
              <a:gd name="connsiteX6" fmla="*/ 370427 w 12192000"/>
              <a:gd name="connsiteY6" fmla="*/ 0 h 558800"/>
            </a:gdLst>
            <a:ahLst/>
            <a:cxnLst/>
            <a:rect l="l" t="t" r="r" b="b"/>
            <a:pathLst>
              <a:path w="12192000" h="558800">
                <a:moveTo>
                  <a:pt x="370427" y="0"/>
                </a:moveTo>
                <a:lnTo>
                  <a:pt x="11821573" y="0"/>
                </a:lnTo>
                <a:cubicBezTo>
                  <a:pt x="12026154" y="0"/>
                  <a:pt x="12192000" y="165846"/>
                  <a:pt x="12192000" y="370427"/>
                </a:cubicBezTo>
                <a:lnTo>
                  <a:pt x="12192000" y="558800"/>
                </a:lnTo>
                <a:lnTo>
                  <a:pt x="0" y="558800"/>
                </a:lnTo>
                <a:lnTo>
                  <a:pt x="0" y="370427"/>
                </a:lnTo>
                <a:cubicBezTo>
                  <a:pt x="0" y="165846"/>
                  <a:pt x="165846" y="0"/>
                  <a:pt x="370427" y="0"/>
                </a:cubicBezTo>
                <a:close/>
              </a:path>
            </a:pathLst>
          </a:custGeom>
          <a:solidFill>
            <a:schemeClr val="accent1"/>
          </a:solidFill>
          <a:ln w="222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00176" y="3001660"/>
            <a:ext cx="6076044" cy="9939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48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 you</a:t>
            </a:r>
            <a:endParaRPr kumimoji="1" lang="zh-CN" altLang="en-US" sz="1400" dirty="0"/>
          </a:p>
        </p:txBody>
      </p:sp>
      <p:sp>
        <p:nvSpPr>
          <p:cNvPr id="8" name="标题 1"/>
          <p:cNvSpPr txBox="1"/>
          <p:nvPr/>
        </p:nvSpPr>
        <p:spPr>
          <a:xfrm>
            <a:off x="600176" y="616064"/>
            <a:ext cx="227140" cy="22714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600176" y="3832390"/>
            <a:ext cx="4760684" cy="0"/>
          </a:xfrm>
          <a:prstGeom prst="line">
            <a:avLst/>
          </a:prstGeom>
          <a:noFill/>
          <a:ln w="22225" cap="sq">
            <a:solidFill>
              <a:schemeClr val="accent1"/>
            </a:solidFill>
            <a:prstDash val="solid"/>
            <a:miter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C000"/>
      </a:accent1>
      <a:accent2>
        <a:srgbClr val="F5870F"/>
      </a:accent2>
      <a:accent3>
        <a:srgbClr val="FF0000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988</Words>
  <Application>Microsoft Office PowerPoint</Application>
  <PresentationFormat>Widescreen</PresentationFormat>
  <Paragraphs>135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Tahoma</vt:lpstr>
      <vt:lpstr>Calibri</vt:lpstr>
      <vt:lpstr>Arial</vt:lpstr>
      <vt:lpstr>poppins-bold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Shubham Kumar</cp:lastModifiedBy>
  <cp:revision>24</cp:revision>
  <dcterms:modified xsi:type="dcterms:W3CDTF">2026-04-13T03:22:07Z</dcterms:modified>
</cp:coreProperties>
</file>